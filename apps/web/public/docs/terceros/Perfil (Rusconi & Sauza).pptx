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9"/>
  </p:notesMasterIdLst>
  <p:sldIdLst>
    <p:sldId id="263" r:id="rId2"/>
    <p:sldId id="257" r:id="rId3"/>
    <p:sldId id="287" r:id="rId4"/>
    <p:sldId id="269" r:id="rId5"/>
    <p:sldId id="266" r:id="rId6"/>
    <p:sldId id="285" r:id="rId7"/>
    <p:sldId id="267" r:id="rId8"/>
    <p:sldId id="268" r:id="rId9"/>
    <p:sldId id="282" r:id="rId10"/>
    <p:sldId id="271" r:id="rId11"/>
    <p:sldId id="288" r:id="rId12"/>
    <p:sldId id="272" r:id="rId13"/>
    <p:sldId id="278" r:id="rId14"/>
    <p:sldId id="273" r:id="rId15"/>
    <p:sldId id="274" r:id="rId16"/>
    <p:sldId id="264" r:id="rId17"/>
    <p:sldId id="276" r:id="rId18"/>
  </p:sldIdLst>
  <p:sldSz cx="9144000" cy="6858000" type="letter"/>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44" autoAdjust="0"/>
    <p:restoredTop sz="88664" autoAdjust="0"/>
  </p:normalViewPr>
  <p:slideViewPr>
    <p:cSldViewPr snapToGrid="0" snapToObjects="1">
      <p:cViewPr varScale="1">
        <p:scale>
          <a:sx n="84" d="100"/>
          <a:sy n="84" d="100"/>
        </p:scale>
        <p:origin x="1454"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553EA0-C7BA-4AB8-9BA5-2743ED32A163}" type="datetimeFigureOut">
              <a:rPr lang="es-MX" smtClean="0"/>
              <a:t>16/04/2024</a:t>
            </a:fld>
            <a:endParaRPr lang="es-MX"/>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C122BF-3F32-4FE2-AF17-A417068063C0}" type="slidenum">
              <a:rPr lang="es-MX" smtClean="0"/>
              <a:t>‹Nº›</a:t>
            </a:fld>
            <a:endParaRPr lang="es-MX"/>
          </a:p>
        </p:txBody>
      </p:sp>
    </p:spTree>
    <p:extLst>
      <p:ext uri="{BB962C8B-B14F-4D97-AF65-F5344CB8AC3E}">
        <p14:creationId xmlns:p14="http://schemas.microsoft.com/office/powerpoint/2010/main" val="2349408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0D3189D-F1E8-B249-91CE-DD643D7B3E01}" type="datetimeFigureOut">
              <a:rPr lang="en-US" smtClean="0"/>
              <a:t>4/16/2024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251434-0526-1949-8FE5-94B95F79B6CE}" type="slidenum">
              <a:rPr lang="en-US" smtClean="0"/>
              <a:t>‹Nº›</a:t>
            </a:fld>
            <a:endParaRPr lang="en-US"/>
          </a:p>
        </p:txBody>
      </p:sp>
    </p:spTree>
    <p:extLst>
      <p:ext uri="{BB962C8B-B14F-4D97-AF65-F5344CB8AC3E}">
        <p14:creationId xmlns:p14="http://schemas.microsoft.com/office/powerpoint/2010/main" val="41159444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0D3189D-F1E8-B249-91CE-DD643D7B3E01}" type="datetimeFigureOut">
              <a:rPr lang="en-US" smtClean="0"/>
              <a:t>4/16/2024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251434-0526-1949-8FE5-94B95F79B6CE}" type="slidenum">
              <a:rPr lang="en-US" smtClean="0"/>
              <a:t>‹Nº›</a:t>
            </a:fld>
            <a:endParaRPr lang="en-US"/>
          </a:p>
        </p:txBody>
      </p:sp>
    </p:spTree>
    <p:extLst>
      <p:ext uri="{BB962C8B-B14F-4D97-AF65-F5344CB8AC3E}">
        <p14:creationId xmlns:p14="http://schemas.microsoft.com/office/powerpoint/2010/main" val="1662280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0D3189D-F1E8-B249-91CE-DD643D7B3E01}" type="datetimeFigureOut">
              <a:rPr lang="en-US" smtClean="0"/>
              <a:t>4/16/2024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251434-0526-1949-8FE5-94B95F79B6CE}" type="slidenum">
              <a:rPr lang="en-US" smtClean="0"/>
              <a:t>‹Nº›</a:t>
            </a:fld>
            <a:endParaRPr lang="en-US"/>
          </a:p>
        </p:txBody>
      </p:sp>
    </p:spTree>
    <p:extLst>
      <p:ext uri="{BB962C8B-B14F-4D97-AF65-F5344CB8AC3E}">
        <p14:creationId xmlns:p14="http://schemas.microsoft.com/office/powerpoint/2010/main" val="2145111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0D3189D-F1E8-B249-91CE-DD643D7B3E01}" type="datetimeFigureOut">
              <a:rPr lang="en-US" smtClean="0"/>
              <a:t>4/16/2024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251434-0526-1949-8FE5-94B95F79B6CE}" type="slidenum">
              <a:rPr lang="en-US" smtClean="0"/>
              <a:t>‹Nº›</a:t>
            </a:fld>
            <a:endParaRPr lang="en-US"/>
          </a:p>
        </p:txBody>
      </p:sp>
    </p:spTree>
    <p:extLst>
      <p:ext uri="{BB962C8B-B14F-4D97-AF65-F5344CB8AC3E}">
        <p14:creationId xmlns:p14="http://schemas.microsoft.com/office/powerpoint/2010/main" val="18202023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0D3189D-F1E8-B249-91CE-DD643D7B3E01}" type="datetimeFigureOut">
              <a:rPr lang="en-US" smtClean="0"/>
              <a:t>4/16/2024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6251434-0526-1949-8FE5-94B95F79B6CE}" type="slidenum">
              <a:rPr lang="en-US" smtClean="0"/>
              <a:t>‹Nº›</a:t>
            </a:fld>
            <a:endParaRPr lang="en-US"/>
          </a:p>
        </p:txBody>
      </p:sp>
    </p:spTree>
    <p:extLst>
      <p:ext uri="{BB962C8B-B14F-4D97-AF65-F5344CB8AC3E}">
        <p14:creationId xmlns:p14="http://schemas.microsoft.com/office/powerpoint/2010/main" val="41946594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0D3189D-F1E8-B249-91CE-DD643D7B3E01}" type="datetimeFigureOut">
              <a:rPr lang="en-US" smtClean="0"/>
              <a:t>4/16/2024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6251434-0526-1949-8FE5-94B95F79B6CE}" type="slidenum">
              <a:rPr lang="en-US" smtClean="0"/>
              <a:t>‹Nº›</a:t>
            </a:fld>
            <a:endParaRPr lang="en-US"/>
          </a:p>
        </p:txBody>
      </p:sp>
    </p:spTree>
    <p:extLst>
      <p:ext uri="{BB962C8B-B14F-4D97-AF65-F5344CB8AC3E}">
        <p14:creationId xmlns:p14="http://schemas.microsoft.com/office/powerpoint/2010/main" val="22281773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D3189D-F1E8-B249-91CE-DD643D7B3E01}" type="datetimeFigureOut">
              <a:rPr lang="en-US" smtClean="0"/>
              <a:t>4/16/2024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6251434-0526-1949-8FE5-94B95F79B6CE}" type="slidenum">
              <a:rPr lang="en-US" smtClean="0"/>
              <a:t>‹Nº›</a:t>
            </a:fld>
            <a:endParaRPr lang="en-US"/>
          </a:p>
        </p:txBody>
      </p:sp>
    </p:spTree>
    <p:extLst>
      <p:ext uri="{BB962C8B-B14F-4D97-AF65-F5344CB8AC3E}">
        <p14:creationId xmlns:p14="http://schemas.microsoft.com/office/powerpoint/2010/main" val="1454182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0D3189D-F1E8-B249-91CE-DD643D7B3E01}" type="datetimeFigureOut">
              <a:rPr lang="en-US" smtClean="0"/>
              <a:t>4/16/2024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251434-0526-1949-8FE5-94B95F79B6CE}" type="slidenum">
              <a:rPr lang="en-US" smtClean="0"/>
              <a:t>‹Nº›</a:t>
            </a:fld>
            <a:endParaRPr lang="en-US"/>
          </a:p>
        </p:txBody>
      </p:sp>
    </p:spTree>
    <p:extLst>
      <p:ext uri="{BB962C8B-B14F-4D97-AF65-F5344CB8AC3E}">
        <p14:creationId xmlns:p14="http://schemas.microsoft.com/office/powerpoint/2010/main" val="1937093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0D3189D-F1E8-B249-91CE-DD643D7B3E01}" type="datetimeFigureOut">
              <a:rPr lang="en-US" smtClean="0"/>
              <a:t>4/16/2024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251434-0526-1949-8FE5-94B95F79B6CE}" type="slidenum">
              <a:rPr lang="en-US" smtClean="0"/>
              <a:t>‹Nº›</a:t>
            </a:fld>
            <a:endParaRPr lang="en-US"/>
          </a:p>
        </p:txBody>
      </p:sp>
    </p:spTree>
    <p:extLst>
      <p:ext uri="{BB962C8B-B14F-4D97-AF65-F5344CB8AC3E}">
        <p14:creationId xmlns:p14="http://schemas.microsoft.com/office/powerpoint/2010/main" val="7380147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0D3189D-F1E8-B249-91CE-DD643D7B3E01}" type="datetimeFigureOut">
              <a:rPr lang="en-US" smtClean="0"/>
              <a:t>4/16/2024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251434-0526-1949-8FE5-94B95F79B6CE}" type="slidenum">
              <a:rPr lang="en-US" smtClean="0"/>
              <a:t>‹Nº›</a:t>
            </a:fld>
            <a:endParaRPr lang="en-US"/>
          </a:p>
        </p:txBody>
      </p:sp>
    </p:spTree>
    <p:extLst>
      <p:ext uri="{BB962C8B-B14F-4D97-AF65-F5344CB8AC3E}">
        <p14:creationId xmlns:p14="http://schemas.microsoft.com/office/powerpoint/2010/main" val="736828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0D3189D-F1E8-B249-91CE-DD643D7B3E01}" type="datetimeFigureOut">
              <a:rPr lang="en-US" smtClean="0"/>
              <a:t>4/16/2024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251434-0526-1949-8FE5-94B95F79B6CE}" type="slidenum">
              <a:rPr lang="en-US" smtClean="0"/>
              <a:t>‹Nº›</a:t>
            </a:fld>
            <a:endParaRPr lang="en-US"/>
          </a:p>
        </p:txBody>
      </p:sp>
    </p:spTree>
    <p:extLst>
      <p:ext uri="{BB962C8B-B14F-4D97-AF65-F5344CB8AC3E}">
        <p14:creationId xmlns:p14="http://schemas.microsoft.com/office/powerpoint/2010/main" val="3827872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D3189D-F1E8-B249-91CE-DD643D7B3E01}" type="datetimeFigureOut">
              <a:rPr lang="en-US" smtClean="0"/>
              <a:t>4/16/2024</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251434-0526-1949-8FE5-94B95F79B6CE}" type="slidenum">
              <a:rPr lang="en-US" smtClean="0"/>
              <a:t>‹Nº›</a:t>
            </a:fld>
            <a:endParaRPr lang="en-US"/>
          </a:p>
        </p:txBody>
      </p:sp>
    </p:spTree>
    <p:extLst>
      <p:ext uri="{BB962C8B-B14F-4D97-AF65-F5344CB8AC3E}">
        <p14:creationId xmlns:p14="http://schemas.microsoft.com/office/powerpoint/2010/main" val="42945876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 name="Grupo 3">
            <a:extLst>
              <a:ext uri="{FF2B5EF4-FFF2-40B4-BE49-F238E27FC236}">
                <a16:creationId xmlns:a16="http://schemas.microsoft.com/office/drawing/2014/main" id="{77049655-9092-4527-851A-4C87F8990EA5}"/>
              </a:ext>
            </a:extLst>
          </p:cNvPr>
          <p:cNvGrpSpPr/>
          <p:nvPr/>
        </p:nvGrpSpPr>
        <p:grpSpPr>
          <a:xfrm>
            <a:off x="20" y="10"/>
            <a:ext cx="9143980" cy="6857990"/>
            <a:chOff x="20" y="10"/>
            <a:chExt cx="9143980" cy="6857990"/>
          </a:xfrm>
        </p:grpSpPr>
        <p:pic>
          <p:nvPicPr>
            <p:cNvPr id="3" name="Imagen 2">
              <a:extLst>
                <a:ext uri="{FF2B5EF4-FFF2-40B4-BE49-F238E27FC236}">
                  <a16:creationId xmlns:a16="http://schemas.microsoft.com/office/drawing/2014/main" id="{1635E152-3A7B-455F-B865-AD1532D74F46}"/>
                </a:ext>
              </a:extLst>
            </p:cNvPr>
            <p:cNvPicPr>
              <a:picLocks noChangeAspect="1"/>
            </p:cNvPicPr>
            <p:nvPr/>
          </p:nvPicPr>
          <p:blipFill rotWithShape="1">
            <a:blip r:embed="rId2"/>
            <a:srcRect t="2913"/>
            <a:stretch/>
          </p:blipFill>
          <p:spPr>
            <a:xfrm>
              <a:off x="20" y="10"/>
              <a:ext cx="9143980" cy="6857990"/>
            </a:xfrm>
            <a:prstGeom prst="rect">
              <a:avLst/>
            </a:prstGeom>
          </p:spPr>
        </p:pic>
        <p:pic>
          <p:nvPicPr>
            <p:cNvPr id="2" name="Imagen 1">
              <a:extLst>
                <a:ext uri="{FF2B5EF4-FFF2-40B4-BE49-F238E27FC236}">
                  <a16:creationId xmlns:a16="http://schemas.microsoft.com/office/drawing/2014/main" id="{DF5189B4-B21C-4E62-95D4-A64D65CA59D0}"/>
                </a:ext>
              </a:extLst>
            </p:cNvPr>
            <p:cNvPicPr>
              <a:picLocks noChangeAspect="1"/>
            </p:cNvPicPr>
            <p:nvPr/>
          </p:nvPicPr>
          <p:blipFill rotWithShape="1">
            <a:blip r:embed="rId3"/>
            <a:srcRect l="18407" t="40269" r="43478" b="28540"/>
            <a:stretch/>
          </p:blipFill>
          <p:spPr>
            <a:xfrm>
              <a:off x="278295" y="583095"/>
              <a:ext cx="2955235" cy="1359633"/>
            </a:xfrm>
            <a:prstGeom prst="rect">
              <a:avLst/>
            </a:prstGeom>
          </p:spPr>
        </p:pic>
      </p:grpSp>
    </p:spTree>
    <p:extLst>
      <p:ext uri="{BB962C8B-B14F-4D97-AF65-F5344CB8AC3E}">
        <p14:creationId xmlns:p14="http://schemas.microsoft.com/office/powerpoint/2010/main" val="1145954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Freeform: Shape 32">
            <a:extLst>
              <a:ext uri="{FF2B5EF4-FFF2-40B4-BE49-F238E27FC236}">
                <a16:creationId xmlns:a16="http://schemas.microsoft.com/office/drawing/2014/main" id="{E4505C23-674B-4195-81D6-0C127FEAE3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67908"/>
            <a:ext cx="6870771" cy="1490093"/>
          </a:xfrm>
          <a:custGeom>
            <a:avLst/>
            <a:gdLst>
              <a:gd name="connsiteX0" fmla="*/ 0 w 9161029"/>
              <a:gd name="connsiteY0" fmla="*/ 0 h 1490093"/>
              <a:gd name="connsiteX1" fmla="*/ 2046494 w 9161029"/>
              <a:gd name="connsiteY1" fmla="*/ 0 h 1490093"/>
              <a:gd name="connsiteX2" fmla="*/ 2496613 w 9161029"/>
              <a:gd name="connsiteY2" fmla="*/ 0 h 1490093"/>
              <a:gd name="connsiteX3" fmla="*/ 3235839 w 9161029"/>
              <a:gd name="connsiteY3" fmla="*/ 0 h 1490093"/>
              <a:gd name="connsiteX4" fmla="*/ 9161029 w 9161029"/>
              <a:gd name="connsiteY4" fmla="*/ 0 h 1490093"/>
              <a:gd name="connsiteX5" fmla="*/ 8470921 w 9161029"/>
              <a:gd name="connsiteY5" fmla="*/ 1490093 h 1490093"/>
              <a:gd name="connsiteX6" fmla="*/ 0 w 9161029"/>
              <a:gd name="connsiteY6" fmla="*/ 1490093 h 1490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61029" h="1490093">
                <a:moveTo>
                  <a:pt x="0" y="0"/>
                </a:moveTo>
                <a:lnTo>
                  <a:pt x="2046494" y="0"/>
                </a:lnTo>
                <a:lnTo>
                  <a:pt x="2496613" y="0"/>
                </a:lnTo>
                <a:lnTo>
                  <a:pt x="3235839" y="0"/>
                </a:lnTo>
                <a:lnTo>
                  <a:pt x="9161029" y="0"/>
                </a:lnTo>
                <a:lnTo>
                  <a:pt x="8470921" y="1490093"/>
                </a:lnTo>
                <a:lnTo>
                  <a:pt x="0" y="1490093"/>
                </a:lnTo>
                <a:close/>
              </a:path>
            </a:pathLst>
          </a:custGeom>
          <a:solidFill>
            <a:schemeClr val="tx1">
              <a:lumMod val="50000"/>
              <a:lumOff val="5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E39541-0AAB-174B-9E7A-89D1F4CDC8D8}"/>
              </a:ext>
            </a:extLst>
          </p:cNvPr>
          <p:cNvSpPr>
            <a:spLocks noGrp="1"/>
          </p:cNvSpPr>
          <p:nvPr>
            <p:ph type="title"/>
          </p:nvPr>
        </p:nvSpPr>
        <p:spPr>
          <a:xfrm>
            <a:off x="628650" y="5529884"/>
            <a:ext cx="5789535" cy="1096331"/>
          </a:xfrm>
        </p:spPr>
        <p:txBody>
          <a:bodyPr>
            <a:normAutofit/>
          </a:bodyPr>
          <a:lstStyle/>
          <a:p>
            <a:r>
              <a:rPr lang="es-MX" b="1" dirty="0"/>
              <a:t>Perfil</a:t>
            </a:r>
            <a:endParaRPr lang="en-US" b="1" dirty="0"/>
          </a:p>
        </p:txBody>
      </p:sp>
      <p:sp>
        <p:nvSpPr>
          <p:cNvPr id="35" name="Freeform: Shape 34">
            <a:extLst>
              <a:ext uri="{FF2B5EF4-FFF2-40B4-BE49-F238E27FC236}">
                <a16:creationId xmlns:a16="http://schemas.microsoft.com/office/drawing/2014/main" id="{65C9B8F0-FF66-4C15-BD05-E86B87331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72277" y="5367908"/>
            <a:ext cx="2571723" cy="1490093"/>
          </a:xfrm>
          <a:custGeom>
            <a:avLst/>
            <a:gdLst>
              <a:gd name="connsiteX0" fmla="*/ 690108 w 3428963"/>
              <a:gd name="connsiteY0" fmla="*/ 0 h 1490093"/>
              <a:gd name="connsiteX1" fmla="*/ 3428963 w 3428963"/>
              <a:gd name="connsiteY1" fmla="*/ 0 h 1490093"/>
              <a:gd name="connsiteX2" fmla="*/ 3428963 w 3428963"/>
              <a:gd name="connsiteY2" fmla="*/ 1490093 h 1490093"/>
              <a:gd name="connsiteX3" fmla="*/ 0 w 3428963"/>
              <a:gd name="connsiteY3" fmla="*/ 1490093 h 1490093"/>
            </a:gdLst>
            <a:ahLst/>
            <a:cxnLst>
              <a:cxn ang="0">
                <a:pos x="connsiteX0" y="connsiteY0"/>
              </a:cxn>
              <a:cxn ang="0">
                <a:pos x="connsiteX1" y="connsiteY1"/>
              </a:cxn>
              <a:cxn ang="0">
                <a:pos x="connsiteX2" y="connsiteY2"/>
              </a:cxn>
              <a:cxn ang="0">
                <a:pos x="connsiteX3" y="connsiteY3"/>
              </a:cxn>
            </a:cxnLst>
            <a:rect l="l" t="t" r="r" b="b"/>
            <a:pathLst>
              <a:path w="3428963" h="1490093">
                <a:moveTo>
                  <a:pt x="690108" y="0"/>
                </a:moveTo>
                <a:lnTo>
                  <a:pt x="3428963" y="0"/>
                </a:lnTo>
                <a:lnTo>
                  <a:pt x="3428963" y="1490093"/>
                </a:lnTo>
                <a:lnTo>
                  <a:pt x="0" y="1490093"/>
                </a:lnTo>
                <a:close/>
              </a:path>
            </a:pathLst>
          </a:cu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Content Placeholder 2">
            <a:extLst>
              <a:ext uri="{FF2B5EF4-FFF2-40B4-BE49-F238E27FC236}">
                <a16:creationId xmlns:a16="http://schemas.microsoft.com/office/drawing/2014/main" id="{2D9C405C-AC84-486A-B017-4D67EBC6440B}"/>
              </a:ext>
            </a:extLst>
          </p:cNvPr>
          <p:cNvSpPr>
            <a:spLocks noGrp="1"/>
          </p:cNvSpPr>
          <p:nvPr>
            <p:ph idx="1"/>
          </p:nvPr>
        </p:nvSpPr>
        <p:spPr>
          <a:xfrm>
            <a:off x="628650" y="554064"/>
            <a:ext cx="7886700" cy="4744034"/>
          </a:xfrm>
        </p:spPr>
        <p:txBody>
          <a:bodyPr>
            <a:normAutofit fontScale="85000" lnSpcReduction="20000"/>
          </a:bodyPr>
          <a:lstStyle/>
          <a:p>
            <a:pPr marL="0" indent="0" algn="just">
              <a:buNone/>
            </a:pPr>
            <a:r>
              <a:rPr lang="es-ES" dirty="0"/>
              <a:t>Rusconi &amp; Sauza, S.C. es un despacho de abogados especializados en derecho administrativo-fiscal, civil-mercantil, corporativo y migratorio, con especial énfasis en aquellas controversias dirigidas a generar cambios positivos en la política pública de los poderes legislativo o ejecutivo, a nivel municipal, estatal o federal. </a:t>
            </a:r>
          </a:p>
          <a:p>
            <a:pPr marL="0" indent="0" algn="just">
              <a:buNone/>
            </a:pPr>
            <a:r>
              <a:rPr lang="es-ES" dirty="0"/>
              <a:t>Nuestra firma está comprometida en desarrollar una práctica moderna, ágil y multidisciplinaria, apoyada en herramientas tecnológicas, en alianzas externas con expertos y actores clave, y en una gran sensibilidad a las necesidades comerciales y humanas de las empresas y personas a las que representa. Además de su profundo conocimiento de la ley, de las prácticas institucionales en nuestro país y del contexto global en el que se desarrollan, la principal fortaleza de Rusconi &amp; Sauza radica en su servicio oportuno y completamente personalizado.</a:t>
            </a:r>
            <a:endParaRPr lang="es-MX" dirty="0"/>
          </a:p>
        </p:txBody>
      </p:sp>
    </p:spTree>
    <p:extLst>
      <p:ext uri="{BB962C8B-B14F-4D97-AF65-F5344CB8AC3E}">
        <p14:creationId xmlns:p14="http://schemas.microsoft.com/office/powerpoint/2010/main" val="4147929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Freeform: Shape 32">
            <a:extLst>
              <a:ext uri="{FF2B5EF4-FFF2-40B4-BE49-F238E27FC236}">
                <a16:creationId xmlns:a16="http://schemas.microsoft.com/office/drawing/2014/main" id="{E4505C23-674B-4195-81D6-0C127FEAE3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67908"/>
            <a:ext cx="6870771" cy="1490093"/>
          </a:xfrm>
          <a:custGeom>
            <a:avLst/>
            <a:gdLst>
              <a:gd name="connsiteX0" fmla="*/ 0 w 9161029"/>
              <a:gd name="connsiteY0" fmla="*/ 0 h 1490093"/>
              <a:gd name="connsiteX1" fmla="*/ 2046494 w 9161029"/>
              <a:gd name="connsiteY1" fmla="*/ 0 h 1490093"/>
              <a:gd name="connsiteX2" fmla="*/ 2496613 w 9161029"/>
              <a:gd name="connsiteY2" fmla="*/ 0 h 1490093"/>
              <a:gd name="connsiteX3" fmla="*/ 3235839 w 9161029"/>
              <a:gd name="connsiteY3" fmla="*/ 0 h 1490093"/>
              <a:gd name="connsiteX4" fmla="*/ 9161029 w 9161029"/>
              <a:gd name="connsiteY4" fmla="*/ 0 h 1490093"/>
              <a:gd name="connsiteX5" fmla="*/ 8470921 w 9161029"/>
              <a:gd name="connsiteY5" fmla="*/ 1490093 h 1490093"/>
              <a:gd name="connsiteX6" fmla="*/ 0 w 9161029"/>
              <a:gd name="connsiteY6" fmla="*/ 1490093 h 1490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61029" h="1490093">
                <a:moveTo>
                  <a:pt x="0" y="0"/>
                </a:moveTo>
                <a:lnTo>
                  <a:pt x="2046494" y="0"/>
                </a:lnTo>
                <a:lnTo>
                  <a:pt x="2496613" y="0"/>
                </a:lnTo>
                <a:lnTo>
                  <a:pt x="3235839" y="0"/>
                </a:lnTo>
                <a:lnTo>
                  <a:pt x="9161029" y="0"/>
                </a:lnTo>
                <a:lnTo>
                  <a:pt x="8470921" y="1490093"/>
                </a:lnTo>
                <a:lnTo>
                  <a:pt x="0" y="1490093"/>
                </a:lnTo>
                <a:close/>
              </a:path>
            </a:pathLst>
          </a:custGeom>
          <a:solidFill>
            <a:schemeClr val="tx1">
              <a:lumMod val="50000"/>
              <a:lumOff val="5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E39541-0AAB-174B-9E7A-89D1F4CDC8D8}"/>
              </a:ext>
            </a:extLst>
          </p:cNvPr>
          <p:cNvSpPr>
            <a:spLocks noGrp="1"/>
          </p:cNvSpPr>
          <p:nvPr>
            <p:ph type="title"/>
          </p:nvPr>
        </p:nvSpPr>
        <p:spPr>
          <a:xfrm>
            <a:off x="628650" y="5529884"/>
            <a:ext cx="5789535" cy="1096331"/>
          </a:xfrm>
        </p:spPr>
        <p:txBody>
          <a:bodyPr>
            <a:normAutofit/>
          </a:bodyPr>
          <a:lstStyle/>
          <a:p>
            <a:r>
              <a:rPr lang="es-MX" b="1" dirty="0"/>
              <a:t>Clientes</a:t>
            </a:r>
            <a:endParaRPr lang="en-US" b="1" dirty="0"/>
          </a:p>
        </p:txBody>
      </p:sp>
      <p:sp>
        <p:nvSpPr>
          <p:cNvPr id="35" name="Freeform: Shape 34">
            <a:extLst>
              <a:ext uri="{FF2B5EF4-FFF2-40B4-BE49-F238E27FC236}">
                <a16:creationId xmlns:a16="http://schemas.microsoft.com/office/drawing/2014/main" id="{65C9B8F0-FF66-4C15-BD05-E86B87331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72277" y="5367908"/>
            <a:ext cx="2571723" cy="1490093"/>
          </a:xfrm>
          <a:custGeom>
            <a:avLst/>
            <a:gdLst>
              <a:gd name="connsiteX0" fmla="*/ 690108 w 3428963"/>
              <a:gd name="connsiteY0" fmla="*/ 0 h 1490093"/>
              <a:gd name="connsiteX1" fmla="*/ 3428963 w 3428963"/>
              <a:gd name="connsiteY1" fmla="*/ 0 h 1490093"/>
              <a:gd name="connsiteX2" fmla="*/ 3428963 w 3428963"/>
              <a:gd name="connsiteY2" fmla="*/ 1490093 h 1490093"/>
              <a:gd name="connsiteX3" fmla="*/ 0 w 3428963"/>
              <a:gd name="connsiteY3" fmla="*/ 1490093 h 1490093"/>
            </a:gdLst>
            <a:ahLst/>
            <a:cxnLst>
              <a:cxn ang="0">
                <a:pos x="connsiteX0" y="connsiteY0"/>
              </a:cxn>
              <a:cxn ang="0">
                <a:pos x="connsiteX1" y="connsiteY1"/>
              </a:cxn>
              <a:cxn ang="0">
                <a:pos x="connsiteX2" y="connsiteY2"/>
              </a:cxn>
              <a:cxn ang="0">
                <a:pos x="connsiteX3" y="connsiteY3"/>
              </a:cxn>
            </a:cxnLst>
            <a:rect l="l" t="t" r="r" b="b"/>
            <a:pathLst>
              <a:path w="3428963" h="1490093">
                <a:moveTo>
                  <a:pt x="690108" y="0"/>
                </a:moveTo>
                <a:lnTo>
                  <a:pt x="3428963" y="0"/>
                </a:lnTo>
                <a:lnTo>
                  <a:pt x="3428963" y="1490093"/>
                </a:lnTo>
                <a:lnTo>
                  <a:pt x="0" y="1490093"/>
                </a:lnTo>
                <a:close/>
              </a:path>
            </a:pathLst>
          </a:cu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Content Placeholder 2">
            <a:extLst>
              <a:ext uri="{FF2B5EF4-FFF2-40B4-BE49-F238E27FC236}">
                <a16:creationId xmlns:a16="http://schemas.microsoft.com/office/drawing/2014/main" id="{2D9C405C-AC84-486A-B017-4D67EBC6440B}"/>
              </a:ext>
            </a:extLst>
          </p:cNvPr>
          <p:cNvSpPr>
            <a:spLocks noGrp="1"/>
          </p:cNvSpPr>
          <p:nvPr>
            <p:ph idx="1"/>
          </p:nvPr>
        </p:nvSpPr>
        <p:spPr>
          <a:xfrm>
            <a:off x="628650" y="554064"/>
            <a:ext cx="7886700" cy="4744034"/>
          </a:xfrm>
        </p:spPr>
        <p:txBody>
          <a:bodyPr>
            <a:normAutofit lnSpcReduction="10000"/>
          </a:bodyPr>
          <a:lstStyle/>
          <a:p>
            <a:pPr marL="0" indent="0" algn="just">
              <a:buNone/>
            </a:pPr>
            <a:r>
              <a:rPr lang="es-ES" dirty="0"/>
              <a:t>Rusconi &amp; Sauza se distingue por haber atendido a más de 450 clientes mexicanos y a más de 25 empresas chinas. Nuestros clientes, provenientes de la India, Canadá, Francia, Alemania, Suiza y Vietnam, atestiguan la amplitud y la adaptabilidad de nuestra oferta. Nos enorgullecemos de contar entre nuestros clientes a empresas estatales del sector minero y de construcción </a:t>
            </a:r>
            <a:r>
              <a:rPr lang="es-ES"/>
              <a:t>de infraestructura </a:t>
            </a:r>
            <a:r>
              <a:rPr lang="es-ES" dirty="0"/>
              <a:t>de China y Francia, empresas tecnológicas listadas en Nasdaq y multinacionales valuadas en miles de millones de dólares. Esta diversidad nos afianza como un socio estratégico para entidades globales que buscan consolidar su presencia en México.</a:t>
            </a:r>
          </a:p>
          <a:p>
            <a:pPr marL="0" indent="0" algn="just">
              <a:buNone/>
            </a:pPr>
            <a:endParaRPr lang="es-ES" dirty="0"/>
          </a:p>
          <a:p>
            <a:pPr marL="0" indent="0" algn="just">
              <a:buNone/>
            </a:pPr>
            <a:endParaRPr lang="es-ES" dirty="0"/>
          </a:p>
          <a:p>
            <a:pPr marL="0" indent="0" algn="just">
              <a:buNone/>
            </a:pPr>
            <a:endParaRPr lang="es-ES" dirty="0"/>
          </a:p>
          <a:p>
            <a:pPr marL="0" indent="0" algn="just">
              <a:buNone/>
            </a:pPr>
            <a:endParaRPr lang="es-ES" dirty="0"/>
          </a:p>
          <a:p>
            <a:pPr marL="0" indent="0" algn="just">
              <a:buNone/>
            </a:pPr>
            <a:endParaRPr lang="es-MX" dirty="0"/>
          </a:p>
        </p:txBody>
      </p:sp>
    </p:spTree>
    <p:extLst>
      <p:ext uri="{BB962C8B-B14F-4D97-AF65-F5344CB8AC3E}">
        <p14:creationId xmlns:p14="http://schemas.microsoft.com/office/powerpoint/2010/main" val="1055506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41173" y="320040"/>
            <a:ext cx="8661654"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E39541-0AAB-174B-9E7A-89D1F4CDC8D8}"/>
              </a:ext>
            </a:extLst>
          </p:cNvPr>
          <p:cNvSpPr>
            <a:spLocks noGrp="1"/>
          </p:cNvSpPr>
          <p:nvPr>
            <p:ph type="title"/>
          </p:nvPr>
        </p:nvSpPr>
        <p:spPr>
          <a:xfrm>
            <a:off x="628650" y="963877"/>
            <a:ext cx="2620771" cy="4930246"/>
          </a:xfrm>
        </p:spPr>
        <p:txBody>
          <a:bodyPr>
            <a:normAutofit/>
          </a:bodyPr>
          <a:lstStyle/>
          <a:p>
            <a:pPr algn="r"/>
            <a:r>
              <a:rPr lang="es-ES" sz="4100" b="1">
                <a:solidFill>
                  <a:schemeClr val="accent1"/>
                </a:solidFill>
              </a:rPr>
              <a:t>DEFENSA CIVIL Y MERCANTIL</a:t>
            </a:r>
            <a:endParaRPr lang="en-US" sz="4100">
              <a:solidFill>
                <a:schemeClr val="accent1"/>
              </a:solidFill>
            </a:endParaRPr>
          </a:p>
        </p:txBody>
      </p:sp>
      <p:cxnSp>
        <p:nvCxnSpPr>
          <p:cNvPr id="10" name="Straight Connector 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702A991-827E-E447-9396-1F300EF3E49B}"/>
              </a:ext>
            </a:extLst>
          </p:cNvPr>
          <p:cNvSpPr>
            <a:spLocks noGrp="1"/>
          </p:cNvSpPr>
          <p:nvPr>
            <p:ph idx="1"/>
          </p:nvPr>
        </p:nvSpPr>
        <p:spPr>
          <a:xfrm>
            <a:off x="3732023" y="963877"/>
            <a:ext cx="4783327" cy="4930246"/>
          </a:xfrm>
        </p:spPr>
        <p:txBody>
          <a:bodyPr anchor="ctr">
            <a:normAutofit/>
          </a:bodyPr>
          <a:lstStyle/>
          <a:p>
            <a:pPr marL="0" indent="0" algn="just">
              <a:buNone/>
            </a:pPr>
            <a:r>
              <a:rPr lang="es-ES" sz="2100" dirty="0"/>
              <a:t>En Rusconi &amp; Sauza sabemos que un componente vital del acompañamiento jurídico de nuestros clientes es la defensa de su patrimonio. Por ello, en Rusconi &amp; Sauza trabajamos para disminuir los riesgos patrimoniales de nuestros clientes, así como para resolver en términos económicamente eficientes sus conflictos, ya sea que éstos deriven del daño que ha sido sufrido a partir de una conducta ilícita, o a raíz de una actividad económica regular que requiere una estrategia formal de negociación o la intervención de un tribunal.</a:t>
            </a:r>
            <a:endParaRPr lang="es-MX" sz="2100" dirty="0"/>
          </a:p>
        </p:txBody>
      </p:sp>
    </p:spTree>
    <p:extLst>
      <p:ext uri="{BB962C8B-B14F-4D97-AF65-F5344CB8AC3E}">
        <p14:creationId xmlns:p14="http://schemas.microsoft.com/office/powerpoint/2010/main" val="1434102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41173" y="320040"/>
            <a:ext cx="8661654"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E39541-0AAB-174B-9E7A-89D1F4CDC8D8}"/>
              </a:ext>
            </a:extLst>
          </p:cNvPr>
          <p:cNvSpPr>
            <a:spLocks noGrp="1"/>
          </p:cNvSpPr>
          <p:nvPr>
            <p:ph type="title"/>
          </p:nvPr>
        </p:nvSpPr>
        <p:spPr>
          <a:xfrm>
            <a:off x="628650" y="963877"/>
            <a:ext cx="2620771" cy="4930246"/>
          </a:xfrm>
        </p:spPr>
        <p:txBody>
          <a:bodyPr>
            <a:normAutofit/>
          </a:bodyPr>
          <a:lstStyle/>
          <a:p>
            <a:pPr algn="r"/>
            <a:r>
              <a:rPr lang="es-ES" sz="3600" b="1" i="1" dirty="0">
                <a:solidFill>
                  <a:schemeClr val="accent1"/>
                </a:solidFill>
              </a:rPr>
              <a:t>COMPLIANCE</a:t>
            </a:r>
            <a:r>
              <a:rPr lang="es-ES" sz="3600" b="1" dirty="0">
                <a:solidFill>
                  <a:schemeClr val="accent1"/>
                </a:solidFill>
              </a:rPr>
              <a:t> FINANCIERO</a:t>
            </a:r>
            <a:endParaRPr lang="en-US" sz="3600" b="1" dirty="0">
              <a:solidFill>
                <a:schemeClr val="accent1"/>
              </a:solidFill>
            </a:endParaRPr>
          </a:p>
        </p:txBody>
      </p:sp>
      <p:cxnSp>
        <p:nvCxnSpPr>
          <p:cNvPr id="10" name="Straight Connector 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702A991-827E-E447-9396-1F300EF3E49B}"/>
              </a:ext>
            </a:extLst>
          </p:cNvPr>
          <p:cNvSpPr>
            <a:spLocks noGrp="1"/>
          </p:cNvSpPr>
          <p:nvPr>
            <p:ph idx="1"/>
          </p:nvPr>
        </p:nvSpPr>
        <p:spPr>
          <a:xfrm>
            <a:off x="3732023" y="605790"/>
            <a:ext cx="4783327" cy="5543550"/>
          </a:xfrm>
        </p:spPr>
        <p:txBody>
          <a:bodyPr anchor="ctr">
            <a:normAutofit fontScale="70000" lnSpcReduction="20000"/>
          </a:bodyPr>
          <a:lstStyle/>
          <a:p>
            <a:pPr marL="0" indent="0" algn="just">
              <a:buNone/>
            </a:pPr>
            <a:r>
              <a:rPr lang="es-ES" dirty="0"/>
              <a:t>En México, autoridades como la CNBV, la CONDUSEF o la SHCP, entre otras, se esfuerzan en mantener un sistema financiero ordenado. Por ello, las entidades que conforman el sistema financiero mexicano se encuentran altamente reguladas. Incumplir con las disposiciones legales, o cumplir con ellas deficientemente, puede generar sanciones ejemplares responsabilidades en materia de lavado de dinero.</a:t>
            </a:r>
            <a:endParaRPr lang="es-MX" dirty="0"/>
          </a:p>
          <a:p>
            <a:pPr marL="0" indent="0" algn="just">
              <a:buNone/>
            </a:pPr>
            <a:endParaRPr lang="es-ES" dirty="0"/>
          </a:p>
          <a:p>
            <a:pPr marL="0" indent="0" algn="just">
              <a:buNone/>
            </a:pPr>
            <a:r>
              <a:rPr lang="es-ES" dirty="0"/>
              <a:t>Desde hace años Rusconi &amp; Sauza ha desarrollado una práctica sólida en materia de </a:t>
            </a:r>
            <a:r>
              <a:rPr lang="es-ES" i="1" dirty="0" err="1"/>
              <a:t>compliance</a:t>
            </a:r>
            <a:r>
              <a:rPr lang="es-ES" dirty="0"/>
              <a:t> dirigida a las empresas del sector financiero como lo son </a:t>
            </a:r>
            <a:r>
              <a:rPr lang="es-ES" dirty="0" err="1"/>
              <a:t>SOFOM’es</a:t>
            </a:r>
            <a:r>
              <a:rPr lang="es-ES" dirty="0"/>
              <a:t> o </a:t>
            </a:r>
            <a:r>
              <a:rPr lang="es-ES" dirty="0" err="1"/>
              <a:t>SOFIPO’s</a:t>
            </a:r>
            <a:r>
              <a:rPr lang="es-ES" dirty="0"/>
              <a:t> y, más recientemente, </a:t>
            </a:r>
            <a:r>
              <a:rPr lang="es-ES" dirty="0" err="1"/>
              <a:t>FINTECH’s</a:t>
            </a:r>
            <a:r>
              <a:rPr lang="es-ES" dirty="0"/>
              <a:t>, para lo cual contamos con colaboradores experimentados como oficiales de cumplimiento anti lavado de dinero certificados por la CNBV y abogados que han estado incluidos en la lisa de </a:t>
            </a:r>
            <a:r>
              <a:rPr lang="es-ES"/>
              <a:t>árbitros de </a:t>
            </a:r>
            <a:r>
              <a:rPr lang="es-ES" dirty="0"/>
              <a:t>la CONDUSEF.</a:t>
            </a:r>
            <a:endParaRPr lang="es-MX" dirty="0"/>
          </a:p>
        </p:txBody>
      </p:sp>
    </p:spTree>
    <p:extLst>
      <p:ext uri="{BB962C8B-B14F-4D97-AF65-F5344CB8AC3E}">
        <p14:creationId xmlns:p14="http://schemas.microsoft.com/office/powerpoint/2010/main" val="952693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41173" y="320040"/>
            <a:ext cx="8661654"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E39541-0AAB-174B-9E7A-89D1F4CDC8D8}"/>
              </a:ext>
            </a:extLst>
          </p:cNvPr>
          <p:cNvSpPr>
            <a:spLocks noGrp="1"/>
          </p:cNvSpPr>
          <p:nvPr>
            <p:ph type="title"/>
          </p:nvPr>
        </p:nvSpPr>
        <p:spPr>
          <a:xfrm>
            <a:off x="628650" y="963877"/>
            <a:ext cx="2620771" cy="4930246"/>
          </a:xfrm>
        </p:spPr>
        <p:txBody>
          <a:bodyPr>
            <a:normAutofit/>
          </a:bodyPr>
          <a:lstStyle/>
          <a:p>
            <a:pPr algn="r"/>
            <a:r>
              <a:rPr lang="es-ES" sz="2400" b="1" dirty="0">
                <a:solidFill>
                  <a:schemeClr val="accent1"/>
                </a:solidFill>
              </a:rPr>
              <a:t>DEFENSA FRENTE A LAS AUTORIDADES ADMINISTRATIVAS</a:t>
            </a:r>
            <a:endParaRPr lang="en-US" sz="2400" b="1" dirty="0">
              <a:solidFill>
                <a:schemeClr val="accent1"/>
              </a:solidFill>
            </a:endParaRPr>
          </a:p>
        </p:txBody>
      </p:sp>
      <p:cxnSp>
        <p:nvCxnSpPr>
          <p:cNvPr id="10" name="Straight Connector 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702A991-827E-E447-9396-1F300EF3E49B}"/>
              </a:ext>
            </a:extLst>
          </p:cNvPr>
          <p:cNvSpPr>
            <a:spLocks noGrp="1"/>
          </p:cNvSpPr>
          <p:nvPr>
            <p:ph idx="1"/>
          </p:nvPr>
        </p:nvSpPr>
        <p:spPr>
          <a:xfrm>
            <a:off x="3732023" y="963877"/>
            <a:ext cx="4783327" cy="4930246"/>
          </a:xfrm>
        </p:spPr>
        <p:txBody>
          <a:bodyPr anchor="ctr">
            <a:normAutofit fontScale="70000" lnSpcReduction="20000"/>
          </a:bodyPr>
          <a:lstStyle/>
          <a:p>
            <a:pPr marL="0" indent="0" algn="just">
              <a:buNone/>
            </a:pPr>
            <a:r>
              <a:rPr lang="es-ES" dirty="0"/>
              <a:t>Una de las obligaciones primordiales del Estado es respetar la ley y los derechos humanos. No obstante, ya sea por costumbre o por conflictos de intereses, muchas veces las autoridades administrativas adoptan agendas propias que vulneran los derechos de las empresas e individuos que requieren su intervención.</a:t>
            </a:r>
            <a:endParaRPr lang="es-MX" dirty="0"/>
          </a:p>
          <a:p>
            <a:pPr marL="0" indent="0" algn="just">
              <a:buNone/>
            </a:pPr>
            <a:endParaRPr lang="es-ES" dirty="0"/>
          </a:p>
          <a:p>
            <a:pPr marL="0" indent="0" algn="just">
              <a:buNone/>
            </a:pPr>
            <a:r>
              <a:rPr lang="es-ES" dirty="0"/>
              <a:t>Por ello, Rusconi &amp; Sauza ha desarrollado una práctica sólida en la defensa de los derechos de las empresas y de las personas frente a la administración pública, tanto en aquellos conflictos en los que sólo se ven afectados los intereses particulares de quien se ha visto dañado por la actividad irregular del Estado, como en aquellos casos en los que la protección buscada implica un cambio sustancial en la política pública prevaleciente hasta el momento.</a:t>
            </a:r>
            <a:endParaRPr lang="es-MX" dirty="0"/>
          </a:p>
          <a:p>
            <a:pPr algn="just"/>
            <a:endParaRPr lang="en-US" sz="1800" dirty="0"/>
          </a:p>
        </p:txBody>
      </p:sp>
    </p:spTree>
    <p:extLst>
      <p:ext uri="{BB962C8B-B14F-4D97-AF65-F5344CB8AC3E}">
        <p14:creationId xmlns:p14="http://schemas.microsoft.com/office/powerpoint/2010/main" val="16203115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41173" y="320040"/>
            <a:ext cx="8661654"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E39541-0AAB-174B-9E7A-89D1F4CDC8D8}"/>
              </a:ext>
            </a:extLst>
          </p:cNvPr>
          <p:cNvSpPr>
            <a:spLocks noGrp="1"/>
          </p:cNvSpPr>
          <p:nvPr>
            <p:ph type="title"/>
          </p:nvPr>
        </p:nvSpPr>
        <p:spPr>
          <a:xfrm>
            <a:off x="628650" y="963877"/>
            <a:ext cx="2620771" cy="4930246"/>
          </a:xfrm>
        </p:spPr>
        <p:txBody>
          <a:bodyPr>
            <a:normAutofit/>
          </a:bodyPr>
          <a:lstStyle/>
          <a:p>
            <a:pPr algn="r"/>
            <a:r>
              <a:rPr lang="es-ES" b="1" dirty="0">
                <a:solidFill>
                  <a:schemeClr val="accent1"/>
                </a:solidFill>
              </a:rPr>
              <a:t>DEFENSA FISCAL</a:t>
            </a:r>
            <a:endParaRPr lang="en-US" dirty="0">
              <a:solidFill>
                <a:schemeClr val="accent1"/>
              </a:solidFill>
            </a:endParaRPr>
          </a:p>
        </p:txBody>
      </p:sp>
      <p:cxnSp>
        <p:nvCxnSpPr>
          <p:cNvPr id="10" name="Straight Connector 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702A991-827E-E447-9396-1F300EF3E49B}"/>
              </a:ext>
            </a:extLst>
          </p:cNvPr>
          <p:cNvSpPr>
            <a:spLocks noGrp="1"/>
          </p:cNvSpPr>
          <p:nvPr>
            <p:ph idx="1"/>
          </p:nvPr>
        </p:nvSpPr>
        <p:spPr>
          <a:xfrm>
            <a:off x="3732023" y="963877"/>
            <a:ext cx="4783327" cy="4930246"/>
          </a:xfrm>
        </p:spPr>
        <p:txBody>
          <a:bodyPr anchor="ctr">
            <a:normAutofit/>
          </a:bodyPr>
          <a:lstStyle/>
          <a:p>
            <a:pPr marL="0" indent="0" algn="just">
              <a:buNone/>
            </a:pPr>
            <a:r>
              <a:rPr lang="es-ES" sz="2100" dirty="0"/>
              <a:t>En un entorno global y local cada vez más competitivo, resulta vital que las empresas reduzcan sus cargas tributarias en la máxima medida permitida por la ley. Sin embargo, las autoridades fiscales tienden a adoptar la lectura más conservadora de la ley, incrementando el costo de hacer negocios en nuestro país. </a:t>
            </a:r>
            <a:endParaRPr lang="es-MX" sz="2100" dirty="0"/>
          </a:p>
          <a:p>
            <a:pPr marL="0" indent="0" algn="just">
              <a:buNone/>
            </a:pPr>
            <a:r>
              <a:rPr lang="es-ES" sz="2100" dirty="0"/>
              <a:t>Por lo anterior, Rusconi &amp; Sauza trabaja continuamente para asegurarse de que los derechos de sus clientes sean protegidos adecuadamente fuera y dentro de juicio, agotando cada oportunidad de defensa frente a las autoridades fiscales, locales y federales, así como ante los tribunales. </a:t>
            </a:r>
            <a:endParaRPr lang="en-US" sz="2100" dirty="0"/>
          </a:p>
        </p:txBody>
      </p:sp>
    </p:spTree>
    <p:extLst>
      <p:ext uri="{BB962C8B-B14F-4D97-AF65-F5344CB8AC3E}">
        <p14:creationId xmlns:p14="http://schemas.microsoft.com/office/powerpoint/2010/main" val="11531123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41173" y="320040"/>
            <a:ext cx="8661654"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E39541-0AAB-174B-9E7A-89D1F4CDC8D8}"/>
              </a:ext>
            </a:extLst>
          </p:cNvPr>
          <p:cNvSpPr>
            <a:spLocks noGrp="1"/>
          </p:cNvSpPr>
          <p:nvPr>
            <p:ph type="title"/>
          </p:nvPr>
        </p:nvSpPr>
        <p:spPr>
          <a:xfrm>
            <a:off x="628650" y="963877"/>
            <a:ext cx="2620771" cy="4930246"/>
          </a:xfrm>
        </p:spPr>
        <p:txBody>
          <a:bodyPr>
            <a:normAutofit/>
          </a:bodyPr>
          <a:lstStyle/>
          <a:p>
            <a:pPr algn="r"/>
            <a:r>
              <a:rPr lang="es-ES" sz="2400" b="1" dirty="0">
                <a:solidFill>
                  <a:schemeClr val="accent1"/>
                </a:solidFill>
              </a:rPr>
              <a:t>ESTRUCTURACIÓN FISCAL INTERNACIONAL</a:t>
            </a:r>
            <a:endParaRPr lang="en-US" sz="2400" dirty="0">
              <a:solidFill>
                <a:schemeClr val="accent1"/>
              </a:solidFill>
            </a:endParaRPr>
          </a:p>
        </p:txBody>
      </p:sp>
      <p:cxnSp>
        <p:nvCxnSpPr>
          <p:cNvPr id="10" name="Straight Connector 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702A991-827E-E447-9396-1F300EF3E49B}"/>
              </a:ext>
            </a:extLst>
          </p:cNvPr>
          <p:cNvSpPr>
            <a:spLocks noGrp="1"/>
          </p:cNvSpPr>
          <p:nvPr>
            <p:ph idx="1"/>
          </p:nvPr>
        </p:nvSpPr>
        <p:spPr>
          <a:xfrm>
            <a:off x="3732023" y="963877"/>
            <a:ext cx="4783327" cy="4930246"/>
          </a:xfrm>
        </p:spPr>
        <p:txBody>
          <a:bodyPr anchor="ctr">
            <a:normAutofit/>
          </a:bodyPr>
          <a:lstStyle/>
          <a:p>
            <a:pPr marL="0" indent="0" algn="just">
              <a:buNone/>
            </a:pPr>
            <a:r>
              <a:rPr lang="es-ES_tradnl" sz="1900" dirty="0">
                <a:cs typeface="Arial" panose="020B0604020202020204" pitchFamily="34" charset="0"/>
              </a:rPr>
              <a:t>Cuando una operación comercial tiene algún elemento internacional (como lo pueden ser clientes, proveedores o inversionistas ubicados en el extranjero), es posible que la misma no esté sujeta a las leyes y autoridades fiscales mexicanas. De ser así, la carga tributaria real de dichas operaciones podría ser muy inferior a la esperada. Rusconi &amp; Sauza ha establecido alianzas con profesionales fiscales y financieros de ciertas jurisdicciones preferentes tanto en el Pacífico como en el Atlántico, con el objetivo de proporcionarle información adecuada respecto a la carga tributaria real de sus operaciones internacionales, siempre con estricto apego a las normas fiscales aplicables.</a:t>
            </a:r>
            <a:endParaRPr lang="en-US" sz="1900" dirty="0"/>
          </a:p>
        </p:txBody>
      </p:sp>
    </p:spTree>
    <p:extLst>
      <p:ext uri="{BB962C8B-B14F-4D97-AF65-F5344CB8AC3E}">
        <p14:creationId xmlns:p14="http://schemas.microsoft.com/office/powerpoint/2010/main" val="15283613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41173" y="320040"/>
            <a:ext cx="8661654"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E39541-0AAB-174B-9E7A-89D1F4CDC8D8}"/>
              </a:ext>
            </a:extLst>
          </p:cNvPr>
          <p:cNvSpPr>
            <a:spLocks noGrp="1"/>
          </p:cNvSpPr>
          <p:nvPr>
            <p:ph type="title"/>
          </p:nvPr>
        </p:nvSpPr>
        <p:spPr>
          <a:xfrm>
            <a:off x="628650" y="963877"/>
            <a:ext cx="2620771" cy="4930246"/>
          </a:xfrm>
        </p:spPr>
        <p:txBody>
          <a:bodyPr>
            <a:normAutofit/>
          </a:bodyPr>
          <a:lstStyle/>
          <a:p>
            <a:pPr algn="r"/>
            <a:r>
              <a:rPr lang="es-ES" sz="2400" b="1" dirty="0">
                <a:solidFill>
                  <a:schemeClr val="accent1"/>
                </a:solidFill>
              </a:rPr>
              <a:t>CONTABILIDAD Y PLANEACIÓN FISCAL</a:t>
            </a:r>
            <a:endParaRPr lang="en-US" sz="2400" dirty="0">
              <a:solidFill>
                <a:schemeClr val="accent1"/>
              </a:solidFill>
            </a:endParaRPr>
          </a:p>
        </p:txBody>
      </p:sp>
      <p:cxnSp>
        <p:nvCxnSpPr>
          <p:cNvPr id="10" name="Straight Connector 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702A991-827E-E447-9396-1F300EF3E49B}"/>
              </a:ext>
            </a:extLst>
          </p:cNvPr>
          <p:cNvSpPr>
            <a:spLocks noGrp="1"/>
          </p:cNvSpPr>
          <p:nvPr>
            <p:ph idx="1"/>
          </p:nvPr>
        </p:nvSpPr>
        <p:spPr>
          <a:xfrm>
            <a:off x="3732023" y="963877"/>
            <a:ext cx="4783327" cy="4930246"/>
          </a:xfrm>
        </p:spPr>
        <p:txBody>
          <a:bodyPr anchor="ctr">
            <a:noAutofit/>
          </a:bodyPr>
          <a:lstStyle/>
          <a:p>
            <a:pPr marL="0" indent="0" algn="just">
              <a:buNone/>
            </a:pPr>
            <a:r>
              <a:rPr lang="es-ES" sz="1800" b="0" i="0" dirty="0">
                <a:solidFill>
                  <a:srgbClr val="000000"/>
                </a:solidFill>
                <a:effectLst/>
              </a:rPr>
              <a:t>En Rusconi &amp; Sauza entendemos que una mala decisión puede generar consecuencias fiscales caras. Por ello, el equipo de Rusconi &amp; Sauza trabaja continuamente para aligerar las cargas de nuestros clientes frente a la administración pública, así como para otorgarle la mejor viabilidad tributaria a sus proyectos productivos. Algunas de las formas en las que atendemos a nuestros clientes respecto a sus cargas tributarias son las siguientes:</a:t>
            </a:r>
          </a:p>
          <a:p>
            <a:pPr marL="0" indent="0" algn="just">
              <a:buNone/>
            </a:pPr>
            <a:br>
              <a:rPr lang="es-ES" sz="400" dirty="0"/>
            </a:br>
            <a:r>
              <a:rPr lang="es-ES" sz="1800" b="0" i="0" dirty="0">
                <a:solidFill>
                  <a:srgbClr val="000000"/>
                </a:solidFill>
                <a:effectLst/>
              </a:rPr>
              <a:t>• Registro de la contabilidad y presentación de declaraciones;</a:t>
            </a:r>
          </a:p>
          <a:p>
            <a:pPr algn="just"/>
            <a:r>
              <a:rPr lang="es-ES" sz="1800" dirty="0">
                <a:solidFill>
                  <a:srgbClr val="000000"/>
                </a:solidFill>
              </a:rPr>
              <a:t>Cumplimiento general de obligaciones fiscales;</a:t>
            </a:r>
            <a:endParaRPr lang="es-ES" sz="1800" b="0" i="0" dirty="0">
              <a:solidFill>
                <a:srgbClr val="000000"/>
              </a:solidFill>
              <a:effectLst/>
            </a:endParaRPr>
          </a:p>
          <a:p>
            <a:pPr marL="0" indent="0" algn="just">
              <a:buNone/>
            </a:pPr>
            <a:br>
              <a:rPr lang="es-ES" sz="400" dirty="0"/>
            </a:br>
            <a:r>
              <a:rPr lang="es-ES" sz="1800" b="0" i="0" dirty="0">
                <a:solidFill>
                  <a:srgbClr val="000000"/>
                </a:solidFill>
                <a:effectLst/>
              </a:rPr>
              <a:t>• Estructuración corporativa;</a:t>
            </a:r>
          </a:p>
          <a:p>
            <a:pPr marL="0" indent="0" algn="just">
              <a:buNone/>
            </a:pPr>
            <a:br>
              <a:rPr lang="es-ES" sz="400" dirty="0"/>
            </a:br>
            <a:r>
              <a:rPr lang="es-ES" sz="1800" b="0" i="0" dirty="0">
                <a:solidFill>
                  <a:srgbClr val="000000"/>
                </a:solidFill>
                <a:effectLst/>
              </a:rPr>
              <a:t>• Optimización de esquemas de previsión social y nominas; y</a:t>
            </a:r>
          </a:p>
          <a:p>
            <a:pPr marL="0" indent="0" algn="just">
              <a:buNone/>
            </a:pPr>
            <a:br>
              <a:rPr lang="es-ES" sz="400" dirty="0"/>
            </a:br>
            <a:r>
              <a:rPr lang="es-ES" sz="1800" b="0" i="0" dirty="0">
                <a:solidFill>
                  <a:srgbClr val="000000"/>
                </a:solidFill>
                <a:effectLst/>
              </a:rPr>
              <a:t>• Determinación y optimización del impacto fiscal de proyectos de inversión.</a:t>
            </a:r>
            <a:endParaRPr lang="en-US" sz="1800" dirty="0"/>
          </a:p>
        </p:txBody>
      </p:sp>
    </p:spTree>
    <p:extLst>
      <p:ext uri="{BB962C8B-B14F-4D97-AF65-F5344CB8AC3E}">
        <p14:creationId xmlns:p14="http://schemas.microsoft.com/office/powerpoint/2010/main" val="8501266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41173" y="320040"/>
            <a:ext cx="8661654"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E39541-0AAB-174B-9E7A-89D1F4CDC8D8}"/>
              </a:ext>
            </a:extLst>
          </p:cNvPr>
          <p:cNvSpPr>
            <a:spLocks noGrp="1"/>
          </p:cNvSpPr>
          <p:nvPr>
            <p:ph type="title"/>
          </p:nvPr>
        </p:nvSpPr>
        <p:spPr>
          <a:xfrm>
            <a:off x="628650" y="963877"/>
            <a:ext cx="2620771" cy="4930246"/>
          </a:xfrm>
        </p:spPr>
        <p:txBody>
          <a:bodyPr>
            <a:normAutofit/>
          </a:bodyPr>
          <a:lstStyle/>
          <a:p>
            <a:pPr algn="r"/>
            <a:r>
              <a:rPr lang="es-ES" sz="3200" b="1" dirty="0">
                <a:solidFill>
                  <a:schemeClr val="accent1"/>
                </a:solidFill>
              </a:rPr>
              <a:t>DERECHO LABORAL Y COMPLIANCE</a:t>
            </a:r>
            <a:endParaRPr lang="en-US" sz="3200" dirty="0">
              <a:solidFill>
                <a:schemeClr val="accent1"/>
              </a:solidFill>
            </a:endParaRPr>
          </a:p>
        </p:txBody>
      </p:sp>
      <p:cxnSp>
        <p:nvCxnSpPr>
          <p:cNvPr id="10" name="Straight Connector 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702A991-827E-E447-9396-1F300EF3E49B}"/>
              </a:ext>
            </a:extLst>
          </p:cNvPr>
          <p:cNvSpPr>
            <a:spLocks noGrp="1"/>
          </p:cNvSpPr>
          <p:nvPr>
            <p:ph idx="1"/>
          </p:nvPr>
        </p:nvSpPr>
        <p:spPr>
          <a:xfrm>
            <a:off x="3732023" y="963877"/>
            <a:ext cx="4783327" cy="4930246"/>
          </a:xfrm>
        </p:spPr>
        <p:txBody>
          <a:bodyPr anchor="ctr">
            <a:normAutofit lnSpcReduction="10000"/>
          </a:bodyPr>
          <a:lstStyle/>
          <a:p>
            <a:pPr marL="0" indent="0" algn="just">
              <a:buNone/>
            </a:pPr>
            <a:r>
              <a:rPr lang="es-ES" sz="1800" dirty="0"/>
              <a:t>En Rusconi &amp; Sauza tenemos experiencia en las áreas de consultoría en temas sindicales, seguridad social, </a:t>
            </a:r>
            <a:r>
              <a:rPr lang="es-ES" sz="1800" dirty="0" err="1"/>
              <a:t>compliance</a:t>
            </a:r>
            <a:r>
              <a:rPr lang="es-ES" sz="1800" dirty="0"/>
              <a:t> y trabajo en plataformas digitales. Estamos enfocados en encontrar soluciones con medidas preventivas para evitar litigios, pero también contamos con abogados litigantes experimentados que han representado a clientes de diversos sectores de la industria, en una amplia gama de demandas individuales y colectivas.</a:t>
            </a:r>
          </a:p>
          <a:p>
            <a:pPr marL="0" indent="0" algn="just">
              <a:buNone/>
            </a:pPr>
            <a:endParaRPr lang="es-ES" sz="1800" dirty="0"/>
          </a:p>
          <a:p>
            <a:pPr marL="0" indent="0" algn="just">
              <a:buNone/>
            </a:pPr>
            <a:r>
              <a:rPr lang="es-ES" sz="1800" dirty="0"/>
              <a:t>Negociamos y ejecutamos convenios, terminaciones laborales y auditorias. Asistimos a los empleadores en la elaboración de su reglamentación interna y en el cumplimiento de las normas oficiales de trabajo en materia laboral. Contamos con amplia experiencia trabajando con instituciones y autoridades del trabajo en México, a nivel federal y local.</a:t>
            </a:r>
          </a:p>
        </p:txBody>
      </p:sp>
    </p:spTree>
    <p:extLst>
      <p:ext uri="{BB962C8B-B14F-4D97-AF65-F5344CB8AC3E}">
        <p14:creationId xmlns:p14="http://schemas.microsoft.com/office/powerpoint/2010/main" val="20060827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41173" y="320040"/>
            <a:ext cx="8661654"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E39541-0AAB-174B-9E7A-89D1F4CDC8D8}"/>
              </a:ext>
            </a:extLst>
          </p:cNvPr>
          <p:cNvSpPr>
            <a:spLocks noGrp="1"/>
          </p:cNvSpPr>
          <p:nvPr>
            <p:ph type="title"/>
          </p:nvPr>
        </p:nvSpPr>
        <p:spPr>
          <a:xfrm>
            <a:off x="628650" y="963877"/>
            <a:ext cx="2620771" cy="4930246"/>
          </a:xfrm>
        </p:spPr>
        <p:txBody>
          <a:bodyPr>
            <a:normAutofit/>
          </a:bodyPr>
          <a:lstStyle/>
          <a:p>
            <a:pPr algn="r"/>
            <a:r>
              <a:rPr lang="es-ES" sz="3200" b="1" dirty="0">
                <a:solidFill>
                  <a:schemeClr val="accent1"/>
                </a:solidFill>
              </a:rPr>
              <a:t>DERECHO CORPORATIVO</a:t>
            </a:r>
            <a:endParaRPr lang="en-US" sz="3200" dirty="0">
              <a:solidFill>
                <a:schemeClr val="accent1"/>
              </a:solidFill>
            </a:endParaRPr>
          </a:p>
        </p:txBody>
      </p:sp>
      <p:cxnSp>
        <p:nvCxnSpPr>
          <p:cNvPr id="10" name="Straight Connector 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702A991-827E-E447-9396-1F300EF3E49B}"/>
              </a:ext>
            </a:extLst>
          </p:cNvPr>
          <p:cNvSpPr>
            <a:spLocks noGrp="1"/>
          </p:cNvSpPr>
          <p:nvPr>
            <p:ph idx="1"/>
          </p:nvPr>
        </p:nvSpPr>
        <p:spPr>
          <a:xfrm>
            <a:off x="3732023" y="963877"/>
            <a:ext cx="4783327" cy="4930246"/>
          </a:xfrm>
        </p:spPr>
        <p:txBody>
          <a:bodyPr anchor="ctr">
            <a:normAutofit fontScale="92500" lnSpcReduction="10000"/>
          </a:bodyPr>
          <a:lstStyle/>
          <a:p>
            <a:pPr marL="0" indent="0" algn="just">
              <a:buNone/>
            </a:pPr>
            <a:r>
              <a:rPr lang="es-ES" sz="1800" dirty="0"/>
              <a:t>Ofrecemos nuestros servicios en la asesoría legal integral para constituir y mantener una empresa de acuerdo con las necesidades y metas de negocios de nuestros clientes, preparando la documentación legal necesaria, así como su presentación ante las autoridades correspondientes.</a:t>
            </a:r>
          </a:p>
          <a:p>
            <a:pPr marL="0" indent="0" algn="just">
              <a:buNone/>
            </a:pPr>
            <a:r>
              <a:rPr lang="es-ES" sz="1800" dirty="0"/>
              <a:t>Entre los servicios que Rusconi &amp; Sauza ofrece se encuentran la asesoría legal en materia de inversiones extranjeras, constitución de sociedades mercantiles, incluyendo la tramitación de autorizaciones para el uso de denominaciones ante la Secretaría de Relaciones Exteriores, o el cambio de denominación o razón social, la elaboración de actas de asamblea, juntas de consejo, así como los documentos relacionados necesarios para llevarlas a cabo, aprobación de resultados de ejercicios sociales, reformas a estatutos sociales, fusiones y escisiones, consolidaciones, adquisiciones, reestructuraciones y otorgamiento de poderes.</a:t>
            </a:r>
          </a:p>
          <a:p>
            <a:pPr marL="0" indent="0" algn="just">
              <a:buNone/>
            </a:pPr>
            <a:r>
              <a:rPr lang="es-ES" sz="1800" dirty="0"/>
              <a:t>También, Rusconi &amp; Sauza tiene experiencia en la apertura de sucursales y subsidiarias, oficinas de representación y establecimientos permanentes.</a:t>
            </a:r>
          </a:p>
        </p:txBody>
      </p:sp>
    </p:spTree>
    <p:extLst>
      <p:ext uri="{BB962C8B-B14F-4D97-AF65-F5344CB8AC3E}">
        <p14:creationId xmlns:p14="http://schemas.microsoft.com/office/powerpoint/2010/main" val="40595286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41173" y="320040"/>
            <a:ext cx="8661654"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E39541-0AAB-174B-9E7A-89D1F4CDC8D8}"/>
              </a:ext>
            </a:extLst>
          </p:cNvPr>
          <p:cNvSpPr>
            <a:spLocks noGrp="1"/>
          </p:cNvSpPr>
          <p:nvPr>
            <p:ph type="title"/>
          </p:nvPr>
        </p:nvSpPr>
        <p:spPr>
          <a:xfrm>
            <a:off x="628650" y="963877"/>
            <a:ext cx="2620771" cy="4930246"/>
          </a:xfrm>
        </p:spPr>
        <p:txBody>
          <a:bodyPr>
            <a:normAutofit/>
          </a:bodyPr>
          <a:lstStyle/>
          <a:p>
            <a:pPr algn="r"/>
            <a:r>
              <a:rPr lang="es-ES" sz="2600" b="1" dirty="0">
                <a:solidFill>
                  <a:schemeClr val="accent1"/>
                </a:solidFill>
              </a:rPr>
              <a:t>CONTRATACIONES PÚBLICAS</a:t>
            </a:r>
            <a:endParaRPr lang="en-US" sz="2600" dirty="0">
              <a:solidFill>
                <a:schemeClr val="accent1"/>
              </a:solidFill>
            </a:endParaRPr>
          </a:p>
        </p:txBody>
      </p:sp>
      <p:cxnSp>
        <p:nvCxnSpPr>
          <p:cNvPr id="10" name="Straight Connector 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702A991-827E-E447-9396-1F300EF3E49B}"/>
              </a:ext>
            </a:extLst>
          </p:cNvPr>
          <p:cNvSpPr>
            <a:spLocks noGrp="1"/>
          </p:cNvSpPr>
          <p:nvPr>
            <p:ph idx="1"/>
          </p:nvPr>
        </p:nvSpPr>
        <p:spPr>
          <a:xfrm>
            <a:off x="3732023" y="963877"/>
            <a:ext cx="4783327" cy="4930246"/>
          </a:xfrm>
        </p:spPr>
        <p:txBody>
          <a:bodyPr anchor="ctr">
            <a:normAutofit/>
          </a:bodyPr>
          <a:lstStyle/>
          <a:p>
            <a:pPr marL="0" indent="0" algn="just">
              <a:buNone/>
            </a:pPr>
            <a:r>
              <a:rPr lang="es-ES" sz="2100" dirty="0"/>
              <a:t>El mercado de las contrataciones públicas en México representa oportunidades de crecimiento importantes para cualquier empresa. Por ello, a la hora de participar, es vital que la empresa cuente con una asesoría especializada que maximice las posibilidades de no ser descalificada debido a la falta de observancia de las formalidades exigidas por la ley.</a:t>
            </a:r>
          </a:p>
          <a:p>
            <a:pPr marL="0" indent="0" algn="just">
              <a:buNone/>
            </a:pPr>
            <a:r>
              <a:rPr lang="es-ES" sz="2100" dirty="0"/>
              <a:t>Por ello, ya sea mediante asesoría preventiva o a través del litigio, Rusconi &amp; Sauza se encuentra preparado para defender los derechos de los participantes en contrataciones públicas en México.</a:t>
            </a:r>
            <a:endParaRPr lang="es-MX" sz="2100" dirty="0"/>
          </a:p>
        </p:txBody>
      </p:sp>
    </p:spTree>
    <p:extLst>
      <p:ext uri="{BB962C8B-B14F-4D97-AF65-F5344CB8AC3E}">
        <p14:creationId xmlns:p14="http://schemas.microsoft.com/office/powerpoint/2010/main" val="338980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41173" y="320040"/>
            <a:ext cx="8661654"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E39541-0AAB-174B-9E7A-89D1F4CDC8D8}"/>
              </a:ext>
            </a:extLst>
          </p:cNvPr>
          <p:cNvSpPr>
            <a:spLocks noGrp="1"/>
          </p:cNvSpPr>
          <p:nvPr>
            <p:ph type="title"/>
          </p:nvPr>
        </p:nvSpPr>
        <p:spPr>
          <a:xfrm>
            <a:off x="628650" y="963877"/>
            <a:ext cx="2620771" cy="4930246"/>
          </a:xfrm>
        </p:spPr>
        <p:txBody>
          <a:bodyPr>
            <a:normAutofit/>
          </a:bodyPr>
          <a:lstStyle/>
          <a:p>
            <a:pPr algn="r"/>
            <a:r>
              <a:rPr lang="en-US" sz="3800" b="1" dirty="0">
                <a:solidFill>
                  <a:schemeClr val="accent1"/>
                </a:solidFill>
              </a:rPr>
              <a:t>SEGUROS Y</a:t>
            </a:r>
            <a:br>
              <a:rPr lang="en-US" sz="3800" b="1" dirty="0">
                <a:solidFill>
                  <a:schemeClr val="accent1"/>
                </a:solidFill>
              </a:rPr>
            </a:br>
            <a:r>
              <a:rPr lang="en-US" sz="3800" b="1" dirty="0">
                <a:solidFill>
                  <a:schemeClr val="accent1"/>
                </a:solidFill>
              </a:rPr>
              <a:t>FIANZAS</a:t>
            </a:r>
          </a:p>
        </p:txBody>
      </p:sp>
      <p:cxnSp>
        <p:nvCxnSpPr>
          <p:cNvPr id="10" name="Straight Connector 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702A991-827E-E447-9396-1F300EF3E49B}"/>
              </a:ext>
            </a:extLst>
          </p:cNvPr>
          <p:cNvSpPr>
            <a:spLocks noGrp="1"/>
          </p:cNvSpPr>
          <p:nvPr>
            <p:ph idx="1"/>
          </p:nvPr>
        </p:nvSpPr>
        <p:spPr>
          <a:xfrm>
            <a:off x="3732023" y="963877"/>
            <a:ext cx="4783327" cy="4930246"/>
          </a:xfrm>
        </p:spPr>
        <p:txBody>
          <a:bodyPr anchor="ctr">
            <a:normAutofit fontScale="92500" lnSpcReduction="10000"/>
          </a:bodyPr>
          <a:lstStyle/>
          <a:p>
            <a:pPr marL="0" indent="0" algn="just">
              <a:buNone/>
            </a:pPr>
            <a:r>
              <a:rPr lang="es-MX" sz="2100" dirty="0"/>
              <a:t>Las garantías y los seguros son instrumentos de gran importancia que han tenido por objeto brindar un respaldo frente a riesgos de incumplimientos, o bien, de aquellos derivados por casos fortuitos y de fuerza mayor. Su tramitación y ejecución requieren de personal especializado en la materia para lograr su efectividad. </a:t>
            </a:r>
          </a:p>
          <a:p>
            <a:pPr marL="0" indent="0" algn="just">
              <a:buNone/>
            </a:pPr>
            <a:r>
              <a:rPr lang="es-MX" sz="2100" dirty="0"/>
              <a:t>En Rusconi &amp; Sauza asesoramos a nuestros clientes sobre como respaldar sus bienes o la prestación de un servicio, o sobre como hacer efectivas sus garantías.</a:t>
            </a:r>
          </a:p>
          <a:p>
            <a:pPr marL="0" indent="0" algn="just">
              <a:buNone/>
            </a:pPr>
            <a:r>
              <a:rPr lang="es-MX" sz="2100" dirty="0"/>
              <a:t>También, en Rusconi &amp; Sauza te podemos  asesorar para que elijas la mejor opción de seguros y garantías de acuerdo a tus necesidades y para que en caso de generarse el riesgo o siniestro la puedas ejecutar de manera correcta.</a:t>
            </a:r>
          </a:p>
        </p:txBody>
      </p:sp>
    </p:spTree>
    <p:extLst>
      <p:ext uri="{BB962C8B-B14F-4D97-AF65-F5344CB8AC3E}">
        <p14:creationId xmlns:p14="http://schemas.microsoft.com/office/powerpoint/2010/main" val="29079613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41173" y="320040"/>
            <a:ext cx="8661654"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E39541-0AAB-174B-9E7A-89D1F4CDC8D8}"/>
              </a:ext>
            </a:extLst>
          </p:cNvPr>
          <p:cNvSpPr>
            <a:spLocks noGrp="1"/>
          </p:cNvSpPr>
          <p:nvPr>
            <p:ph type="title"/>
          </p:nvPr>
        </p:nvSpPr>
        <p:spPr>
          <a:xfrm>
            <a:off x="628650" y="963877"/>
            <a:ext cx="2620771" cy="4930246"/>
          </a:xfrm>
        </p:spPr>
        <p:txBody>
          <a:bodyPr>
            <a:normAutofit/>
          </a:bodyPr>
          <a:lstStyle/>
          <a:p>
            <a:pPr algn="r"/>
            <a:r>
              <a:rPr lang="es-ES" sz="4000" b="1" dirty="0">
                <a:solidFill>
                  <a:schemeClr val="accent1"/>
                </a:solidFill>
              </a:rPr>
              <a:t>DERECHO SANITARIO</a:t>
            </a:r>
            <a:endParaRPr lang="en-US" sz="4000" dirty="0">
              <a:solidFill>
                <a:schemeClr val="accent1"/>
              </a:solidFill>
            </a:endParaRPr>
          </a:p>
        </p:txBody>
      </p:sp>
      <p:cxnSp>
        <p:nvCxnSpPr>
          <p:cNvPr id="10" name="Straight Connector 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702A991-827E-E447-9396-1F300EF3E49B}"/>
              </a:ext>
            </a:extLst>
          </p:cNvPr>
          <p:cNvSpPr>
            <a:spLocks noGrp="1"/>
          </p:cNvSpPr>
          <p:nvPr>
            <p:ph idx="1"/>
          </p:nvPr>
        </p:nvSpPr>
        <p:spPr>
          <a:xfrm>
            <a:off x="3732023" y="963877"/>
            <a:ext cx="4783327" cy="4930246"/>
          </a:xfrm>
        </p:spPr>
        <p:txBody>
          <a:bodyPr anchor="ctr">
            <a:noAutofit/>
          </a:bodyPr>
          <a:lstStyle/>
          <a:p>
            <a:pPr marL="0" indent="0" algn="just">
              <a:buNone/>
            </a:pPr>
            <a:r>
              <a:rPr lang="es-ES" sz="2100" dirty="0"/>
              <a:t>Las actividades que guardan relación con la salud pública ocupan un puesto destacado dentro de las funciones del Estado, por lo cual, en el sistema jurídico mexicano existen muchas disposiciones que regulan la función de las autoridades sanitarias y el cumplimiento a la normatividad existente.</a:t>
            </a:r>
            <a:endParaRPr lang="es-MX" sz="2100" dirty="0"/>
          </a:p>
          <a:p>
            <a:pPr marL="0" indent="0" algn="just">
              <a:buNone/>
            </a:pPr>
            <a:r>
              <a:rPr lang="es-ES" sz="2100" dirty="0"/>
              <a:t>Por ello Rusconi &amp; Sauza provee soluciones jurídicas y prácticas para quienes participan en las distintas actividades del sector salud, público y privado, tanto en procedimientos de contratación pública, en la obtención de registros sanitarios o licencias, o en aquellos relacionados con responsabilidades administrativas.</a:t>
            </a:r>
            <a:endParaRPr lang="es-MX" sz="2100" dirty="0"/>
          </a:p>
        </p:txBody>
      </p:sp>
    </p:spTree>
    <p:extLst>
      <p:ext uri="{BB962C8B-B14F-4D97-AF65-F5344CB8AC3E}">
        <p14:creationId xmlns:p14="http://schemas.microsoft.com/office/powerpoint/2010/main" val="8843839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41173" y="320040"/>
            <a:ext cx="8661654"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E39541-0AAB-174B-9E7A-89D1F4CDC8D8}"/>
              </a:ext>
            </a:extLst>
          </p:cNvPr>
          <p:cNvSpPr>
            <a:spLocks noGrp="1"/>
          </p:cNvSpPr>
          <p:nvPr>
            <p:ph type="title"/>
          </p:nvPr>
        </p:nvSpPr>
        <p:spPr>
          <a:xfrm>
            <a:off x="628650" y="963877"/>
            <a:ext cx="2620771" cy="4930246"/>
          </a:xfrm>
        </p:spPr>
        <p:txBody>
          <a:bodyPr>
            <a:normAutofit/>
          </a:bodyPr>
          <a:lstStyle/>
          <a:p>
            <a:pPr algn="r"/>
            <a:r>
              <a:rPr lang="es-ES" sz="3600" b="1" dirty="0">
                <a:solidFill>
                  <a:schemeClr val="accent1"/>
                </a:solidFill>
              </a:rPr>
              <a:t>DERECHO MIGRATORIO</a:t>
            </a:r>
            <a:endParaRPr lang="en-US" sz="3600" dirty="0">
              <a:solidFill>
                <a:schemeClr val="accent1"/>
              </a:solidFill>
            </a:endParaRPr>
          </a:p>
        </p:txBody>
      </p:sp>
      <p:cxnSp>
        <p:nvCxnSpPr>
          <p:cNvPr id="10" name="Straight Connector 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702A991-827E-E447-9396-1F300EF3E49B}"/>
              </a:ext>
            </a:extLst>
          </p:cNvPr>
          <p:cNvSpPr>
            <a:spLocks noGrp="1"/>
          </p:cNvSpPr>
          <p:nvPr>
            <p:ph idx="1"/>
          </p:nvPr>
        </p:nvSpPr>
        <p:spPr>
          <a:xfrm>
            <a:off x="3732023" y="963877"/>
            <a:ext cx="4783327" cy="4930246"/>
          </a:xfrm>
        </p:spPr>
        <p:txBody>
          <a:bodyPr anchor="ctr">
            <a:noAutofit/>
          </a:bodyPr>
          <a:lstStyle/>
          <a:p>
            <a:pPr marL="0" indent="0" algn="just">
              <a:buNone/>
            </a:pPr>
            <a:r>
              <a:rPr lang="es-ES" sz="2000" dirty="0"/>
              <a:t>Contamos con más de trece años de experiencia y una sólida relación ante las autoridades migratorias en procedimientos como autorización de visas de trabajo, cambio de condición de estancia a residentes temporales o permanentes, renovación de residencia temporal, obtención de constancia de empleadores ante el INAMI, cumplimientos de obligaciones de extranjeros como notificación de cambio de lugar de trabajo, cambio de domicilio, cambio de nacionalidad o nombre, naturalización mexicana y pasaporte mexicano, procedimientos de deportación y retorno asistido. Nuestros principales clientes son empresas mexicanas y transnacionales, así como extranjeros que buscan invertir en México; obteniendo excelentes resultados, siendo la recomendación nuestra fuente de crecimiento.</a:t>
            </a:r>
            <a:endParaRPr lang="es-MX" sz="1800" dirty="0"/>
          </a:p>
        </p:txBody>
      </p:sp>
    </p:spTree>
    <p:extLst>
      <p:ext uri="{BB962C8B-B14F-4D97-AF65-F5344CB8AC3E}">
        <p14:creationId xmlns:p14="http://schemas.microsoft.com/office/powerpoint/2010/main" val="18795898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39541-0AAB-174B-9E7A-89D1F4CDC8D8}"/>
              </a:ext>
            </a:extLst>
          </p:cNvPr>
          <p:cNvSpPr>
            <a:spLocks noGrp="1"/>
          </p:cNvSpPr>
          <p:nvPr>
            <p:ph type="title"/>
          </p:nvPr>
        </p:nvSpPr>
        <p:spPr>
          <a:xfrm>
            <a:off x="491490" y="365125"/>
            <a:ext cx="3840085" cy="1692794"/>
          </a:xfrm>
        </p:spPr>
        <p:txBody>
          <a:bodyPr>
            <a:normAutofit/>
          </a:bodyPr>
          <a:lstStyle/>
          <a:p>
            <a:r>
              <a:rPr lang="es-ES" b="1" dirty="0"/>
              <a:t>EDUARDO RUSCONI</a:t>
            </a:r>
            <a:endParaRPr lang="en-US" dirty="0"/>
          </a:p>
        </p:txBody>
      </p:sp>
      <p:pic>
        <p:nvPicPr>
          <p:cNvPr id="1026" name="Picture 2" descr="Eduardo Rusconi">
            <a:extLst>
              <a:ext uri="{FF2B5EF4-FFF2-40B4-BE49-F238E27FC236}">
                <a16:creationId xmlns:a16="http://schemas.microsoft.com/office/drawing/2014/main" id="{C82C9BD3-1119-4A35-A91D-03AA8B9E10A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729" r="21229"/>
          <a:stretch/>
        </p:blipFill>
        <p:spPr bwMode="auto">
          <a:xfrm>
            <a:off x="4409136" y="10"/>
            <a:ext cx="4734863" cy="6857987"/>
          </a:xfrm>
          <a:custGeom>
            <a:avLst/>
            <a:gdLst>
              <a:gd name="connsiteX0" fmla="*/ 65565 w 6313150"/>
              <a:gd name="connsiteY0" fmla="*/ 0 h 6857997"/>
              <a:gd name="connsiteX1" fmla="*/ 6313150 w 6313150"/>
              <a:gd name="connsiteY1" fmla="*/ 0 h 6857997"/>
              <a:gd name="connsiteX2" fmla="*/ 6313150 w 6313150"/>
              <a:gd name="connsiteY2" fmla="*/ 6857997 h 6857997"/>
              <a:gd name="connsiteX3" fmla="*/ 3293946 w 6313150"/>
              <a:gd name="connsiteY3" fmla="*/ 6857997 h 6857997"/>
              <a:gd name="connsiteX4" fmla="*/ 3235857 w 6313150"/>
              <a:gd name="connsiteY4" fmla="*/ 6823061 h 6857997"/>
              <a:gd name="connsiteX5" fmla="*/ 0 w 6313150"/>
              <a:gd name="connsiteY5" fmla="*/ 951803 h 6857997"/>
              <a:gd name="connsiteX6" fmla="*/ 31536 w 6313150"/>
              <a:gd name="connsiteY6" fmla="*/ 285771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13150" h="6857997">
                <a:moveTo>
                  <a:pt x="65565" y="0"/>
                </a:moveTo>
                <a:lnTo>
                  <a:pt x="6313150" y="0"/>
                </a:lnTo>
                <a:lnTo>
                  <a:pt x="6313150" y="6857997"/>
                </a:lnTo>
                <a:lnTo>
                  <a:pt x="3293946" y="6857997"/>
                </a:lnTo>
                <a:lnTo>
                  <a:pt x="3235857" y="6823061"/>
                </a:lnTo>
                <a:cubicBezTo>
                  <a:pt x="1291240" y="5592803"/>
                  <a:pt x="0" y="3423096"/>
                  <a:pt x="0" y="951803"/>
                </a:cubicBezTo>
                <a:cubicBezTo>
                  <a:pt x="0" y="727140"/>
                  <a:pt x="10673" y="504970"/>
                  <a:pt x="31536" y="285771"/>
                </a:cubicBezTo>
                <a:close/>
              </a:path>
            </a:pathLst>
          </a:custGeom>
          <a:noFill/>
          <a:extLst>
            <a:ext uri="{909E8E84-426E-40DD-AFC4-6F175D3DCCD1}">
              <a14:hiddenFill xmlns:a14="http://schemas.microsoft.com/office/drawing/2010/main">
                <a:solidFill>
                  <a:srgbClr val="FFFFFF"/>
                </a:solidFill>
              </a14:hiddenFill>
            </a:ext>
          </a:extLst>
        </p:spPr>
      </p:pic>
      <p:sp>
        <p:nvSpPr>
          <p:cNvPr id="9" name="Content Placeholder 2">
            <a:extLst>
              <a:ext uri="{FF2B5EF4-FFF2-40B4-BE49-F238E27FC236}">
                <a16:creationId xmlns:a16="http://schemas.microsoft.com/office/drawing/2014/main" id="{0331AF69-EA22-4BC5-B091-CCE0B1B77E25}"/>
              </a:ext>
            </a:extLst>
          </p:cNvPr>
          <p:cNvSpPr>
            <a:spLocks noGrp="1"/>
          </p:cNvSpPr>
          <p:nvPr>
            <p:ph idx="1"/>
          </p:nvPr>
        </p:nvSpPr>
        <p:spPr>
          <a:xfrm>
            <a:off x="323850" y="1934094"/>
            <a:ext cx="4171950" cy="4687685"/>
          </a:xfrm>
        </p:spPr>
        <p:txBody>
          <a:bodyPr>
            <a:normAutofit/>
          </a:bodyPr>
          <a:lstStyle/>
          <a:p>
            <a:pPr marL="0" indent="0" algn="just">
              <a:buNone/>
            </a:pPr>
            <a:r>
              <a:rPr lang="es-MX" sz="1400" dirty="0"/>
              <a:t>Eduardo Rusconi es un abogado educado en México, Japón y Australia, experimentado en litigio civil-mercantil y fiscal-administrativo, así como en negociación y mediación. Eduardo es egresado de la Facultad de Derecho de la Universidad Nacional Autónoma de México. En 2011 concluyó una maestría en Derecho Internacional Económico y de los Negocios en la Universidad de </a:t>
            </a:r>
            <a:r>
              <a:rPr lang="es-MX" sz="1400" dirty="0" err="1"/>
              <a:t>Kyushu</a:t>
            </a:r>
            <a:r>
              <a:rPr lang="es-MX" sz="1400" dirty="0"/>
              <a:t>, en Japón, y en 2016 finalizó una maestría en Derecho Fiscal Internacional en la Universidad de Melbourne, Australia. Asimismo, en 2017, Eduardo concluyó un diplomado en litigio estratégico en derechos humanos, impartido por el Instituto de Investigaciones Jurídicas de la UNAM. También, Eduardo Rusconi es el Mediador Privado número 213, certificado por el TSJCM.</a:t>
            </a:r>
          </a:p>
          <a:p>
            <a:pPr marL="0" indent="0" algn="just">
              <a:buNone/>
            </a:pPr>
            <a:r>
              <a:rPr lang="es-MX" sz="1400" dirty="0"/>
              <a:t>Previamente a fundar Rusconi &amp; Sauza, Eduardo trabajó sucesivamente para Solórzano, Carvajal, González y Pérez Correa, S.C. y para Barrera, Siqueiros y Torres-Landa, S.C. (hoy Hogan </a:t>
            </a:r>
            <a:r>
              <a:rPr lang="es-MX" sz="1400" dirty="0" err="1"/>
              <a:t>Lovells</a:t>
            </a:r>
            <a:r>
              <a:rPr lang="es-MX" sz="1400" dirty="0"/>
              <a:t> BSTL). Eduardo ha sido profesor de las asignaturas ‘Formación de bloques económicos regionales’ en la Universidad Anáhuac del Sur, y ‘Derechos humanos’ en la Universidad La Salle. </a:t>
            </a:r>
            <a:endParaRPr lang="en-US" sz="1400" dirty="0"/>
          </a:p>
        </p:txBody>
      </p:sp>
    </p:spTree>
    <p:extLst>
      <p:ext uri="{BB962C8B-B14F-4D97-AF65-F5344CB8AC3E}">
        <p14:creationId xmlns:p14="http://schemas.microsoft.com/office/powerpoint/2010/main" val="39630936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39541-0AAB-174B-9E7A-89D1F4CDC8D8}"/>
              </a:ext>
            </a:extLst>
          </p:cNvPr>
          <p:cNvSpPr>
            <a:spLocks noGrp="1"/>
          </p:cNvSpPr>
          <p:nvPr>
            <p:ph type="title"/>
          </p:nvPr>
        </p:nvSpPr>
        <p:spPr>
          <a:xfrm>
            <a:off x="491490" y="365125"/>
            <a:ext cx="3840085" cy="1692794"/>
          </a:xfrm>
        </p:spPr>
        <p:txBody>
          <a:bodyPr>
            <a:normAutofit/>
          </a:bodyPr>
          <a:lstStyle/>
          <a:p>
            <a:r>
              <a:rPr lang="es-ES" b="1" dirty="0"/>
              <a:t>SELENE </a:t>
            </a:r>
            <a:br>
              <a:rPr lang="es-ES" b="1" dirty="0"/>
            </a:br>
            <a:r>
              <a:rPr lang="es-ES" b="1" dirty="0"/>
              <a:t>SAUZA</a:t>
            </a:r>
            <a:endParaRPr lang="en-US" dirty="0"/>
          </a:p>
        </p:txBody>
      </p:sp>
      <p:cxnSp>
        <p:nvCxnSpPr>
          <p:cNvPr id="14" name="Straight Arrow Connector 13">
            <a:extLst>
              <a:ext uri="{FF2B5EF4-FFF2-40B4-BE49-F238E27FC236}">
                <a16:creationId xmlns:a16="http://schemas.microsoft.com/office/drawing/2014/main" id="{E4A809D5-3600-46D4-A466-67F2349A54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490" y="2316480"/>
            <a:ext cx="3429000" cy="0"/>
          </a:xfrm>
          <a:prstGeom prst="straightConnector1">
            <a:avLst/>
          </a:prstGeom>
          <a:ln w="19050" cap="sq">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0331AF69-EA22-4BC5-B091-CCE0B1B77E25}"/>
              </a:ext>
            </a:extLst>
          </p:cNvPr>
          <p:cNvSpPr>
            <a:spLocks noGrp="1"/>
          </p:cNvSpPr>
          <p:nvPr>
            <p:ph idx="1"/>
          </p:nvPr>
        </p:nvSpPr>
        <p:spPr>
          <a:xfrm>
            <a:off x="491490" y="2575034"/>
            <a:ext cx="3840085" cy="3462228"/>
          </a:xfrm>
        </p:spPr>
        <p:txBody>
          <a:bodyPr>
            <a:normAutofit fontScale="55000" lnSpcReduction="20000"/>
          </a:bodyPr>
          <a:lstStyle/>
          <a:p>
            <a:pPr marL="0" indent="0" algn="just">
              <a:buNone/>
            </a:pPr>
            <a:r>
              <a:rPr lang="es-ES" dirty="0"/>
              <a:t>Selene es abogada especialista en derecho migratorio, egresada de la Facultad de Derecho de la Universidad Nacional Autónoma de México con mención honorífica. Hace trece años comenzó a laborar en el área migratoria en Despachos especializados en la materia. Trabajar con expatriados, así como la experiencia personal de vivir en el extranjero junto con su familia le ha brindado un sentido del compromiso humanitario y profesional en temas migratorios. Apoyar a las empresas tanto mexicanas como extranjeras a obtener los permisos y residencias de sus empleados, así como asesorar para inversiones en nuestro país, ha sido posible gracias a su trayectoria especializada y conocimiento de los ordenamientos jurídicos aplicables y sobre todo a la praxis ante el Instituto Nacional de Migración.</a:t>
            </a:r>
            <a:endParaRPr lang="es-MX" sz="1600" dirty="0"/>
          </a:p>
        </p:txBody>
      </p:sp>
      <p:pic>
        <p:nvPicPr>
          <p:cNvPr id="4" name="Imagen 3" descr="Mujer sonriendo con vestido&#10;&#10;Descripción generada automáticamente">
            <a:extLst>
              <a:ext uri="{FF2B5EF4-FFF2-40B4-BE49-F238E27FC236}">
                <a16:creationId xmlns:a16="http://schemas.microsoft.com/office/drawing/2014/main" id="{564AC665-B3DA-4768-BE9E-7D1C94B1135B}"/>
              </a:ext>
            </a:extLst>
          </p:cNvPr>
          <p:cNvPicPr>
            <a:picLocks noChangeAspect="1"/>
          </p:cNvPicPr>
          <p:nvPr/>
        </p:nvPicPr>
        <p:blipFill rotWithShape="1">
          <a:blip r:embed="rId2"/>
          <a:srcRect l="26833" r="27081" b="-1"/>
          <a:stretch/>
        </p:blipFill>
        <p:spPr>
          <a:xfrm>
            <a:off x="4409136" y="10"/>
            <a:ext cx="4734863" cy="6857987"/>
          </a:xfrm>
          <a:custGeom>
            <a:avLst/>
            <a:gdLst/>
            <a:ahLst/>
            <a:cxnLst/>
            <a:rect l="l" t="t" r="r" b="b"/>
            <a:pathLst>
              <a:path w="6313150" h="6857997">
                <a:moveTo>
                  <a:pt x="65565" y="0"/>
                </a:moveTo>
                <a:lnTo>
                  <a:pt x="6313150" y="0"/>
                </a:lnTo>
                <a:lnTo>
                  <a:pt x="6313150" y="6857997"/>
                </a:lnTo>
                <a:lnTo>
                  <a:pt x="3293946" y="6857997"/>
                </a:lnTo>
                <a:lnTo>
                  <a:pt x="3235857" y="6823061"/>
                </a:lnTo>
                <a:cubicBezTo>
                  <a:pt x="1291240" y="5592803"/>
                  <a:pt x="0" y="3423096"/>
                  <a:pt x="0" y="951803"/>
                </a:cubicBezTo>
                <a:cubicBezTo>
                  <a:pt x="0" y="727140"/>
                  <a:pt x="10673" y="504970"/>
                  <a:pt x="31536" y="285771"/>
                </a:cubicBezTo>
                <a:close/>
              </a:path>
            </a:pathLst>
          </a:custGeom>
        </p:spPr>
      </p:pic>
    </p:spTree>
    <p:extLst>
      <p:ext uri="{BB962C8B-B14F-4D97-AF65-F5344CB8AC3E}">
        <p14:creationId xmlns:p14="http://schemas.microsoft.com/office/powerpoint/2010/main" val="181171648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272</TotalTime>
  <Words>2026</Words>
  <Application>Microsoft Office PowerPoint</Application>
  <PresentationFormat>Carta (216 x 279 mm)</PresentationFormat>
  <Paragraphs>55</Paragraphs>
  <Slides>17</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17</vt:i4>
      </vt:variant>
    </vt:vector>
  </HeadingPairs>
  <TitlesOfParts>
    <vt:vector size="21" baseType="lpstr">
      <vt:lpstr>Arial</vt:lpstr>
      <vt:lpstr>Calibri</vt:lpstr>
      <vt:lpstr>Calibri Light</vt:lpstr>
      <vt:lpstr>Office Theme</vt:lpstr>
      <vt:lpstr>Presentación de PowerPoint</vt:lpstr>
      <vt:lpstr>Perfil</vt:lpstr>
      <vt:lpstr>Clientes</vt:lpstr>
      <vt:lpstr>DEFENSA CIVIL Y MERCANTIL</vt:lpstr>
      <vt:lpstr>COMPLIANCE FINANCIERO</vt:lpstr>
      <vt:lpstr>DEFENSA FRENTE A LAS AUTORIDADES ADMINISTRATIVAS</vt:lpstr>
      <vt:lpstr>DEFENSA FISCAL</vt:lpstr>
      <vt:lpstr>ESTRUCTURACIÓN FISCAL INTERNACIONAL</vt:lpstr>
      <vt:lpstr>CONTABILIDAD Y PLANEACIÓN FISCAL</vt:lpstr>
      <vt:lpstr>DERECHO LABORAL Y COMPLIANCE</vt:lpstr>
      <vt:lpstr>DERECHO CORPORATIVO</vt:lpstr>
      <vt:lpstr>CONTRATACIONES PÚBLICAS</vt:lpstr>
      <vt:lpstr>SEGUROS Y FIANZAS</vt:lpstr>
      <vt:lpstr>DERECHO SANITARIO</vt:lpstr>
      <vt:lpstr>DERECHO MIGRATORIO</vt:lpstr>
      <vt:lpstr>EDUARDO RUSCONI</vt:lpstr>
      <vt:lpstr>SELENE  SAUZA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Margarita Hernández</dc:creator>
  <cp:lastModifiedBy>Eduardo Rusconi</cp:lastModifiedBy>
  <cp:revision>29</cp:revision>
  <dcterms:created xsi:type="dcterms:W3CDTF">2020-05-14T22:22:59Z</dcterms:created>
  <dcterms:modified xsi:type="dcterms:W3CDTF">2024-04-16T23:36:40Z</dcterms:modified>
</cp:coreProperties>
</file>